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606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2606D"/>
                </a:solidFill>
                <a:latin typeface="Arial"/>
              </a:rPr>
              <a:t>Temperature before first failure (°C)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(°C)</c:v>
                </c:pt>
              </c:strCache>
            </c:strRef>
          </c:tx>
          <c:spPr>
            <a:solidFill>
              <a:srgbClr val="E8590C"/>
            </a:solidFill>
            <a:ln w="38100" cap="flat">
              <a:solidFill>
                <a:srgbClr val="E859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590C"/>
              </a:solidFill>
              <a:ln w="9525" cap="flat">
                <a:solidFill>
                  <a:srgbClr val="E859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-48h</c:v>
                  </c:pt>
                  <c:pt idx="1">
                    <c:v>-44h</c:v>
                  </c:pt>
                  <c:pt idx="2">
                    <c:v>-40h</c:v>
                  </c:pt>
                  <c:pt idx="3">
                    <c:v>-36h</c:v>
                  </c:pt>
                  <c:pt idx="4">
                    <c:v>-32h</c:v>
                  </c:pt>
                  <c:pt idx="5">
                    <c:v>-28h</c:v>
                  </c:pt>
                  <c:pt idx="6">
                    <c:v>-24h</c:v>
                  </c:pt>
                  <c:pt idx="7">
                    <c:v>-20h</c:v>
                  </c:pt>
                  <c:pt idx="8">
                    <c:v>-16h</c:v>
                  </c:pt>
                  <c:pt idx="9">
                    <c:v>-12h</c:v>
                  </c:pt>
                  <c:pt idx="10">
                    <c:v>-8h</c:v>
                  </c:pt>
                  <c:pt idx="11">
                    <c:v>-4h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77.1</c:v>
                </c:pt>
                <c:pt idx="1">
                  <c:v>83.5</c:v>
                </c:pt>
                <c:pt idx="2">
                  <c:v>86.9</c:v>
                </c:pt>
                <c:pt idx="3">
                  <c:v>90</c:v>
                </c:pt>
                <c:pt idx="4">
                  <c:v>96.1</c:v>
                </c:pt>
                <c:pt idx="5">
                  <c:v>94.6</c:v>
                </c:pt>
                <c:pt idx="6">
                  <c:v>102.3</c:v>
                </c:pt>
                <c:pt idx="7">
                  <c:v>95.6</c:v>
                </c:pt>
                <c:pt idx="8">
                  <c:v>99.5</c:v>
                </c:pt>
                <c:pt idx="9">
                  <c:v>101.7</c:v>
                </c:pt>
                <c:pt idx="10">
                  <c:v>108.9</c:v>
                </c:pt>
                <c:pt idx="11">
                  <c:v>115.2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606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2606D"/>
                </a:solidFill>
                <a:latin typeface="Arial"/>
              </a:rPr>
              <a:t>Positive training labels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rows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Exact 24h shift</c:v>
                  </c:pt>
                  <c:pt idx="1">
                    <c:v>24h warning window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339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unplanned motor failures. The goal: a 24 hour early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|  AEROLOGISTICS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Overheat: Predictive Maintenance AI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motor failures 24 hours before they happen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Dheeraj  |  Data Science Division  |  Oct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Project 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AeroLogistics sorting robots depend on drive motors that overheat and fail without warning. Each failure stops the warehouse and costs $50,000 per minute.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use IoT sensor data to predict a motor failure at least 24 hours in advance, so maintenance can move from reactive to proactive.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94960" y="12801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53212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$50,000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280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minute of downtime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237744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53212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377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sensor logs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34747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532120" y="3474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failures in the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three sensors, hourly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Sensor_Temp_C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75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around 65 °C; climbs past 100 °C before failure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777240" cy="77724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7249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496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Vibration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Sensor_Vibration_mm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118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around 1.2 mm; rises to 8+ mm before failure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777240" cy="77724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6791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Sensor_Voltage_V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261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near 220 V with minor dips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Catastrophic_Failure flag (1 = motor failed that hour). Only 0.15% of rows are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Project solution: five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87552" y="16459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windows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 mean of temp, 12h std of vibration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146304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6459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51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target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9718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label back 24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146304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16459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159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77056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split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77056" y="29718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80% train, last 20% test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9824" y="146304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0176" y="16459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8017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41264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forest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9718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class_weight balanced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4032" y="146304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44384" y="16459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443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22860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97180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for mechanics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rows would let the model learn from the future, so the split is strictly by 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methods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FDF1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6040" y="13716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FD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0604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FDF1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37160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FDF1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FDF1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06040" y="210312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FDF1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0604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FDF1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718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and rolling standard deviation (12-hour windows) to capture sustained heat and shaking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shifting with .shift(-24) so each row predicts the future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80/20 split with .iloc, no random shuffling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class_weight='balanced' for rare failures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for explainable results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ramp up before a failure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DF1E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126480" y="15544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 °C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65 °C norm in the last day</a:t>
            </a:r>
            <a:endParaRPr lang="en-US" sz="3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7x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vs the 1.2 mm norm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tweak made the target learnable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24h shift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positive hour per failure. Only 3 in the test set, recall 67%.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 warning window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if a failure happens in the next 24 hours. 72 test positives, recall 100%.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Screenshots: feature engineering</a:t>
            </a:r>
            <a:endParaRPr lang="en-US" sz="3200" dirty="0"/>
          </a:p>
        </p:txBody>
      </p:sp>
      <p:pic>
        <p:nvPicPr>
          <p:cNvPr id="3" name="Image 0" descr="shot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8200"/>
            <a:ext cx="8046720" cy="31414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12-hour mean (temperature) and standard deviation (vibration); NaN rows dropped. Output: 9,989 rows, 15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Screenshots: target shifting</a:t>
            </a:r>
            <a:endParaRPr lang="en-US" sz="3200" dirty="0"/>
          </a:p>
        </p:txBody>
      </p:sp>
      <p:pic>
        <p:nvPicPr>
          <p:cNvPr id="3" name="Image 0" descr="shot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022" y="1188720"/>
            <a:ext cx="6211957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shifted 24 hours back, last 24 rows dropped, failure and timestamp columns removed to prevent leakage.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Screenshots: chronological split</a:t>
            </a:r>
            <a:endParaRPr lang="en-US" sz="3200" dirty="0"/>
          </a:p>
        </p:txBody>
      </p:sp>
      <p:pic>
        <p:nvPicPr>
          <p:cNvPr id="3" name="Image 0" descr="shot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8200"/>
            <a:ext cx="8046720" cy="31414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80% of the timeline trains (7,972 rows), last 20% tests (1,993 rows). No shuffling.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Screenshots: model and output</a:t>
            </a:r>
            <a:endParaRPr lang="en-US" sz="3200" dirty="0"/>
          </a:p>
        </p:txBody>
      </p:sp>
      <p:pic>
        <p:nvPicPr>
          <p:cNvPr id="3" name="Image 0" descr="shot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350" y="1188720"/>
            <a:ext cx="6473301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balanced class weights. Recall 1.00 and precision 0.94 for failures within 24 hours.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Screenshots: final output charts</a:t>
            </a:r>
            <a:endParaRPr lang="en-US" sz="3200" dirty="0"/>
          </a:p>
        </p:txBody>
      </p:sp>
      <p:pic>
        <p:nvPicPr>
          <p:cNvPr id="3" name="Image 0" descr="out_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4971"/>
            <a:ext cx="3931920" cy="2333579"/>
          </a:xfrm>
          <a:prstGeom prst="rect">
            <a:avLst/>
          </a:prstGeom>
        </p:spPr>
      </p:pic>
      <p:pic>
        <p:nvPicPr>
          <p:cNvPr id="4" name="Image 1" descr="out_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86155"/>
            <a:ext cx="3931920" cy="23312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72 of 72 failures caught, 5 false alarms.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vibration (41%) and 12h average temperature (33%) lead; voltage is 0.6%.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Project report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280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failures cost $50,000 per minute and happen without warning.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965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 features, a 24-hour shifted target, a chronological split and a balanced Random Forest.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651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held-out final 20%: recall 100%, precision 94%, 0 missed failures, 5 false alarms.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3337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and 12-hour average temperature are the leading indicators; voltage is not.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4023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failures in the data, so the model should be re-validated as more data arrives.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533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as a pilot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007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maintenance ticket whenever a motor is flagged.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76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smart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2374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in the next off-peak window, before the 24h horizon ends.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99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vibration + temperature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467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carry nearly all of the predictive signal.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221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Re-validate with more data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696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failures so far; retrain as more are logged.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Overheat: Predictive Maintenance AI</dc:title>
  <dc:subject>PptxGenJS Presentation</dc:subject>
  <dc:creator>PptxGenJS</dc:creator>
  <cp:lastModifiedBy>PptxGenJS</cp:lastModifiedBy>
  <cp:revision>1</cp:revision>
  <dcterms:created xsi:type="dcterms:W3CDTF">2026-10-03T10:02:19Z</dcterms:created>
  <dcterms:modified xsi:type="dcterms:W3CDTF">2026-10-03T10:02:19Z</dcterms:modified>
</cp:coreProperties>
</file>